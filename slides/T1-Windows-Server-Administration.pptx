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 • Administration &amp; maintenance Windows Server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241280" y="654710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B3 SRC • 12 h • 8 × 1 h 30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7C4"/>
          </a:solidFill>
          <a:ln w="12700">
            <a:solidFill>
              <a:srgbClr val="00A7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4124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7C4"/>
                </a:solidFill>
              </a:rPr>
              <a:t>T1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8046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Administration et maintenance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Windows Server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303580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5D9E8"/>
                </a:solidFill>
              </a:rPr>
              <a:t>B3 Systèmes, Réseaux &amp; Cloud • 12 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382219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2 h de concepts + démonstrations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10 h de TP, maintenance, automatisation et break/fix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412480" y="1234440"/>
            <a:ext cx="283464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7C4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49640" y="1399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7C4"/>
                </a:solidFill>
              </a:rPr>
              <a:t>AD DS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49640" y="1764792"/>
            <a:ext cx="25603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Identités • domaines • OU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12480" y="2606040"/>
            <a:ext cx="283464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65D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49640" y="27706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D8"/>
                </a:solidFill>
              </a:rPr>
              <a:t>DNS / DHCP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49640" y="3136392"/>
            <a:ext cx="25603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Nommer • adresser • dépanner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0" y="3977640"/>
            <a:ext cx="283464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855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49640" y="41422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55A"/>
                </a:solidFill>
              </a:rPr>
              <a:t>SMB / PowerShell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49640" y="4507992"/>
            <a:ext cx="25603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Droits • automatisation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3232" y="5806440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7C4"/>
                </a:solidFill>
              </a:rPr>
              <a:t>NovaCorp — construire, valider, casser, réparer.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Objectifs du module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Ce que vous devez savoir faire après les 8 séances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5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6984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243B53"/>
                </a:solidFill>
              </a:rPr>
              <a:t>Déployer un domaine Active Directory cohérent et comprendre ses dépendances.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243B53"/>
                </a:solidFill>
              </a:rPr>
              <a:t>Structurer OU, utilisateurs et groupes avec une logique exploitable en entreprise.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243B53"/>
                </a:solidFill>
              </a:rPr>
              <a:t>Sécuriser des partages SMB avec des ACL NTFS et raisonner sur les droits effectifs.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243B53"/>
                </a:solidFill>
              </a:rPr>
              <a:t>Configurer DHCP/DNS puis intégrer un poste Windows au domaine.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243B53"/>
                </a:solidFill>
              </a:rPr>
              <a:t>Automatiser un onboarding avec PowerShell et diagnostiquer un incident sans “cliquer au hasard”.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713232" y="5486400"/>
            <a:ext cx="1069848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0A7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41848"/>
            <a:ext cx="10287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A7C4"/>
                </a:solidFill>
              </a:rPr>
              <a:t>Fil rouge : NovaCorp — un vrai mini-SI plutôt qu’une suite de fenêtres à ouvrir.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lab NovaCorp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Trois VMs, un réseau, une dépendance critique : DNS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5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274320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855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848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55A"/>
                </a:solidFill>
              </a:rPr>
              <a:t>CLT01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450592"/>
            <a:ext cx="246888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Windows 11 Pro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IP via DHCP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274320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65D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3990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D8"/>
                </a:solidFill>
              </a:rPr>
              <a:t>DC01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1764792"/>
            <a:ext cx="246888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AD DS + DNS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10.10.10.10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0" y="1920240"/>
            <a:ext cx="274320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7285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823960" y="20848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7285"/>
                </a:solidFill>
              </a:rPr>
              <a:t>SRV01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23960" y="2450592"/>
            <a:ext cx="246888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DHCP + File Server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10.10.10.20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74720" y="2633472"/>
            <a:ext cx="1234440" cy="0"/>
          </a:xfrm>
          <a:prstGeom prst="line">
            <a:avLst/>
          </a:prstGeom>
          <a:noFill/>
          <a:ln w="31750">
            <a:solidFill>
              <a:srgbClr val="00A7C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52360" y="2633472"/>
            <a:ext cx="1234440" cy="0"/>
          </a:xfrm>
          <a:prstGeom prst="line">
            <a:avLst/>
          </a:prstGeom>
          <a:noFill/>
          <a:ln w="31750">
            <a:solidFill>
              <a:srgbClr val="00A7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74720" y="3127248"/>
            <a:ext cx="5212080" cy="0"/>
          </a:xfrm>
          <a:prstGeom prst="line">
            <a:avLst/>
          </a:prstGeom>
          <a:noFill/>
          <a:ln w="22860">
            <a:solidFill>
              <a:srgbClr val="0B7285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25196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novacorp.test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103120" y="46634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27D98"/>
                </a:solidFill>
              </a:rPr>
              <a:t>Réseau : 10.10.10.0/24 • DHCP hyperviseur désactivé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13232" y="5349240"/>
            <a:ext cx="1069848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504688"/>
            <a:ext cx="10287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53030"/>
                </a:solidFill>
              </a:rPr>
              <a:t>Un client peut avoir une “bonne IP” et pourtant ne plus fonctionner dans le domaine si son DNS est mauvais.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Windows Server : rôles, fonctionnalités, services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Penser en briques plutôt qu’en “serveur magique”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5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C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72200" y="14173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C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D8"/>
                </a:solidFill>
              </a:rPr>
              <a:t>Rôles serveur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130552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AD Domain Services : identité et annuaire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DNS Server : résolution de noms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DHCP Server : configuration IP dynamique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File Server : SMB et stockage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Hyper-V : virtualisation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0080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285"/>
                </a:solidFill>
              </a:rPr>
              <a:t>Outils d’administration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130552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Server Manager / MMC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Windows Admin Center (selon environnement)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PowerShell / modules RSAT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Event Viewer / journaux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Commandes réseau et diagnostics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Workgroup vs domaine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Pourquoi Active Directory change le modèle d’administration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5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C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72200" y="14173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C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D8"/>
                </a:solidFill>
              </a:rPr>
              <a:t>Workgroup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130552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Comptes locaux machine par machine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Politiques locales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Peu adapté à un parc important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Gestion et audit dispersés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0080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285"/>
                </a:solidFill>
              </a:rPr>
              <a:t>Domaine Active Directory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130552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Identités centralisées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Authentification Kerberos / NTLM selon le cas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GPO centralisées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Délégation et administration à l’échelle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13232" y="5532120"/>
            <a:ext cx="1069848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65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687568"/>
            <a:ext cx="10287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65D8"/>
                </a:solidFill>
              </a:rPr>
              <a:t>Le domaine ne supprime pas la complexité : il la centralise pour la rendre gouvernable.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briques AD 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Forêt → domaine → OU → objets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7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233172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65D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8483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D8"/>
                </a:solidFill>
              </a:rPr>
              <a:t>Forêt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50592"/>
            <a:ext cx="205740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Frontière de sécurité / schéma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233172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7C4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208483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7C4"/>
                </a:solidFill>
              </a:rPr>
              <a:t>Domaine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2450592"/>
            <a:ext cx="205740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DNS + annuaire + réplication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920240"/>
            <a:ext cx="233172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7285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208483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7285"/>
                </a:solidFill>
              </a:rPr>
              <a:t>OU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63640" y="2450592"/>
            <a:ext cx="205740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Organisation + délégation + GPO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78240" y="1920240"/>
            <a:ext cx="233172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855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15400" y="208483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55A"/>
                </a:solidFill>
              </a:rPr>
              <a:t>Objets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15400" y="2450592"/>
            <a:ext cx="205740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Users • Groups • Computers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154680" y="2651760"/>
            <a:ext cx="320040" cy="0"/>
          </a:xfrm>
          <a:prstGeom prst="line">
            <a:avLst/>
          </a:prstGeom>
          <a:noFill/>
          <a:ln w="25400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06440" y="2651760"/>
            <a:ext cx="320040" cy="0"/>
          </a:xfrm>
          <a:prstGeom prst="line">
            <a:avLst/>
          </a:prstGeom>
          <a:noFill/>
          <a:ln w="25400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58200" y="2651760"/>
            <a:ext cx="320040" cy="0"/>
          </a:xfrm>
          <a:prstGeom prst="line">
            <a:avLst/>
          </a:prstGeom>
          <a:noFill/>
          <a:ln w="25400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14400" y="4069080"/>
            <a:ext cx="102412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Dans ce lab : une forêt = un domaine = novacorp.test.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Les OU servent à organiser et cibler l’administration ; ce ne sont pas des dossiers de fichiers.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Les groupes servent à porter les droits ; les utilisateurs ne devraient pas être ajoutés directement partout.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Groupes et AGDLP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Un peu plus “entreprise” qu’un TP de base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7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855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3134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55A"/>
                </a:solidFill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79192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Accounts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Alice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63240" y="214884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65D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23134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D8"/>
                </a:solidFill>
              </a:rPr>
              <a:t>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2679192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Global Group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GG-FINANCE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0" y="214884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7C4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23560" y="23134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7C4"/>
                </a:solidFill>
              </a:rPr>
              <a:t>DL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23560" y="2679192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Domain Local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DL-FINANCE-RW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09560" y="214884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7791F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0" y="23134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791F"/>
                </a:solidFill>
              </a:rPr>
              <a:t>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46720" y="2679192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Permission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Finance = Modify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651760" y="2450592"/>
            <a:ext cx="365760" cy="502920"/>
          </a:xfrm>
          <a:prstGeom prst="chevron">
            <a:avLst/>
          </a:prstGeom>
          <a:solidFill>
            <a:srgbClr val="486581"/>
          </a:solidFill>
          <a:ln w="12700">
            <a:solidFill>
              <a:srgbClr val="4865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2450592"/>
            <a:ext cx="365760" cy="502920"/>
          </a:xfrm>
          <a:prstGeom prst="chevron">
            <a:avLst/>
          </a:prstGeom>
          <a:solidFill>
            <a:srgbClr val="486581"/>
          </a:solidFill>
          <a:ln w="12700">
            <a:solidFill>
              <a:srgbClr val="4865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2450592"/>
            <a:ext cx="365760" cy="502920"/>
          </a:xfrm>
          <a:prstGeom prst="chevron">
            <a:avLst/>
          </a:prstGeom>
          <a:solidFill>
            <a:srgbClr val="486581"/>
          </a:solidFill>
          <a:ln w="12700">
            <a:solidFill>
              <a:srgbClr val="4865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Pourquoi ?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" y="4343400"/>
            <a:ext cx="1005840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On change l’appartenance à un groupe, pas des dizaines d’ACL.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Le rôle métier et le droit sur la ressource sont séparés.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C’est plus simple à auditer, à déléguer et à faire évoluer.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DNS : la dépendance invisible d’Active Directory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Sans résolution correcte, le domaine devient vite “bizarre”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7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C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72200" y="14173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C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D8"/>
                </a:solidFill>
              </a:rPr>
              <a:t>Ce que DNS doit permettre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130552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Résoudre DC01.novacorp.test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Localiser les services via des enregistrements SRV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Permettre aux clients de trouver un contrôleur de domaine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Fournir une source cohérente à tous les membres du domaine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0080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285"/>
                </a:solidFill>
              </a:rPr>
              <a:t>Commandes à maîtriser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130552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ipconfig /all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Resolve-DnsName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nslookup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Get-DnsServerZone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Test-NetConnection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13232" y="5504688"/>
            <a:ext cx="1069848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660136"/>
            <a:ext cx="10287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53030"/>
                </a:solidFill>
              </a:rPr>
              <a:t>Premier réflexe sur un poste membre d’un domaine : vérifier QUEL serveur DNS il utilise.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Installer le premier contrôleur de domaine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De Windows Server “vide” à novacorp.test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6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665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8424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Nom + IP statique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0906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DC01 • 10.10.10.10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207008" y="2167128"/>
            <a:ext cx="1508760" cy="0"/>
          </a:xfrm>
          <a:prstGeom prst="line">
            <a:avLst/>
          </a:prstGeom>
          <a:noFill/>
          <a:ln w="25400">
            <a:solidFill>
              <a:srgbClr val="00A7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52928" y="1874520"/>
            <a:ext cx="566928" cy="566928"/>
          </a:xfrm>
          <a:prstGeom prst="ellipse">
            <a:avLst/>
          </a:prstGeom>
          <a:solidFill>
            <a:srgbClr val="1665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2928" y="198424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61488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Rôle AD 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61488" y="30906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Install-WindowsFeature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11296" y="2167128"/>
            <a:ext cx="1508760" cy="0"/>
          </a:xfrm>
          <a:prstGeom prst="line">
            <a:avLst/>
          </a:prstGeom>
          <a:noFill/>
          <a:ln w="25400">
            <a:solidFill>
              <a:srgbClr val="00A7C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57216" y="1874520"/>
            <a:ext cx="566928" cy="566928"/>
          </a:xfrm>
          <a:prstGeom prst="ellipse">
            <a:avLst/>
          </a:prstGeom>
          <a:solidFill>
            <a:srgbClr val="1665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7216" y="198424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65776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Promotion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65776" y="30906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Install-ADDSForest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815584" y="2167128"/>
            <a:ext cx="1508760" cy="0"/>
          </a:xfrm>
          <a:prstGeom prst="line">
            <a:avLst/>
          </a:prstGeom>
          <a:noFill/>
          <a:ln w="25400">
            <a:solidFill>
              <a:srgbClr val="00A7C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61504" y="1874520"/>
            <a:ext cx="566928" cy="566928"/>
          </a:xfrm>
          <a:prstGeom prst="ellipse">
            <a:avLst/>
          </a:prstGeom>
          <a:solidFill>
            <a:srgbClr val="0B72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61504" y="198424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70064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Redémarrage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70064" y="30906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DNS + SYSVOL + NTDS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19872" y="2167128"/>
            <a:ext cx="1508760" cy="0"/>
          </a:xfrm>
          <a:prstGeom prst="line">
            <a:avLst/>
          </a:prstGeom>
          <a:noFill/>
          <a:ln w="25400">
            <a:solidFill>
              <a:srgbClr val="00A7C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765792" y="1874520"/>
            <a:ext cx="566928" cy="566928"/>
          </a:xfrm>
          <a:prstGeom prst="ellipse">
            <a:avLst/>
          </a:prstGeom>
          <a:solidFill>
            <a:srgbClr val="0B72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65792" y="198424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74352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74352" y="30906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Get-ADDomain • dcdiag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13232" y="5074920"/>
            <a:ext cx="1069848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65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230368"/>
            <a:ext cx="10287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65D8"/>
                </a:solidFill>
              </a:rPr>
              <a:t>Le rôle AD DS est installé avant la promotion. La promotion transforme le serveur en contrôleur de domaine.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GPO : qui reçoit quoi 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LSDOU et ciblage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7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Local → Site → Domain → OU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22402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86581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5420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86581"/>
                </a:solidFill>
              </a:rPr>
              <a:t>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907792"/>
            <a:ext cx="19659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Local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Stratégie locale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11880" y="2377440"/>
            <a:ext cx="22402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7285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25420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7285"/>
                </a:solidFill>
              </a:rPr>
              <a:t>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2907792"/>
            <a:ext cx="19659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Site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Topologie AD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2377440"/>
            <a:ext cx="22402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65D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25420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D8"/>
                </a:solidFill>
              </a:rPr>
              <a:t>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2907792"/>
            <a:ext cx="19659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Domain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Règles communes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89720" y="2377440"/>
            <a:ext cx="22402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855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0" y="25420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55A"/>
                </a:solidFill>
              </a:rPr>
              <a:t>OU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0" y="2907792"/>
            <a:ext cx="19659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OU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Ciblage fin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4389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53030"/>
                </a:solidFill>
              </a:rPr>
              <a:t>Question : une GPO avec uniquement des paramètres User Configuration doit-elle être liée à l’OU des serveurs ?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13232" y="5349240"/>
            <a:ext cx="1069848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B72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504688"/>
            <a:ext cx="10287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7285"/>
                </a:solidFill>
              </a:rPr>
              <a:t>Toujours vérifier le scope, le lien, l’objet ciblé et gpresult avant d’accuser “les GPO”.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SMB vs NTFS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Deux couches de permissions, un droit effectif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7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292608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65D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848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D8"/>
                </a:solidFill>
              </a:rPr>
              <a:t>Partage SMB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50592"/>
            <a:ext cx="265176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Qui peut entrer par \SRV01\Finance 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1920240"/>
            <a:ext cx="292608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7285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0848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7285"/>
                </a:solidFill>
              </a:rPr>
              <a:t>ACL NTFS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450592"/>
            <a:ext cx="265176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Que peut-il faire dans D:\Shares\Finance 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0" y="1920240"/>
            <a:ext cx="292608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7791F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49640" y="20848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791F"/>
                </a:solidFill>
              </a:rPr>
              <a:t>Droit effectif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49640" y="2450592"/>
            <a:ext cx="265176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Le chemin d’accès impose la combinaison effective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749040" y="2578608"/>
            <a:ext cx="868680" cy="0"/>
          </a:xfrm>
          <a:prstGeom prst="line">
            <a:avLst/>
          </a:prstGeom>
          <a:noFill/>
          <a:ln w="25400">
            <a:solidFill>
              <a:srgbClr val="00A7C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43800" y="2578608"/>
            <a:ext cx="868680" cy="0"/>
          </a:xfrm>
          <a:prstGeom prst="line">
            <a:avLst/>
          </a:prstGeom>
          <a:noFill/>
          <a:ln w="25400">
            <a:solidFill>
              <a:srgbClr val="00A7C4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22960" y="4069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Exemple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011680" y="40050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3030"/>
                </a:solidFill>
              </a:rPr>
              <a:t>Partage = Change   +   NTFS = Read   →   via SMB : Read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13232" y="5166360"/>
            <a:ext cx="1069848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5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321808"/>
            <a:ext cx="10287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53030"/>
                </a:solidFill>
              </a:rPr>
              <a:t>Ne jamais se contenter de regarder une seule ACL quand un utilisateur reçoit “Access denied”.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Moindre privilège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Le bon droit, au bon groupe, sur la bonne ressource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5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C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72200" y="14173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C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D8"/>
                </a:solidFill>
              </a:rPr>
              <a:t>À éviter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130552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Everyone = Full Control partout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Alice ajoutée directement sur 12 dossiers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Droits historiques jamais nettoyés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Partages sans propriétaire métier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0080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285"/>
                </a:solidFill>
              </a:rPr>
              <a:t>À viser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130552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Groupes métiers + groupes de ressources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Read / Modify selon le besoin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Administrateurs distincts des utilisateurs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Tests avec plusieurs profils utilisateurs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DHCP : DORA en 30 secondes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Distribuer une configuration, pas seulement une IP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6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960120" cy="960120"/>
          </a:xfrm>
          <a:prstGeom prst="ellipse">
            <a:avLst/>
          </a:prstGeom>
          <a:solidFill>
            <a:srgbClr val="1665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488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1272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Discover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20240" y="2395728"/>
            <a:ext cx="1417320" cy="0"/>
          </a:xfrm>
          <a:prstGeom prst="line">
            <a:avLst/>
          </a:prstGeom>
          <a:noFill/>
          <a:ln w="25400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66160" y="1920240"/>
            <a:ext cx="960120" cy="960120"/>
          </a:xfrm>
          <a:prstGeom prst="ellipse">
            <a:avLst/>
          </a:prstGeom>
          <a:solidFill>
            <a:srgbClr val="00A7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1488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46120" y="31272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Offer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09160" y="2395728"/>
            <a:ext cx="1417320" cy="0"/>
          </a:xfrm>
          <a:prstGeom prst="line">
            <a:avLst/>
          </a:prstGeom>
          <a:noFill/>
          <a:ln w="25400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55080" y="1920240"/>
            <a:ext cx="960120" cy="96012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1488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035040" y="31272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Request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98080" y="2395728"/>
            <a:ext cx="1417320" cy="0"/>
          </a:xfrm>
          <a:prstGeom prst="line">
            <a:avLst/>
          </a:prstGeom>
          <a:noFill/>
          <a:ln w="25400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44000" y="1920240"/>
            <a:ext cx="960120" cy="96012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21488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823960" y="31272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Acknowledge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3977640"/>
            <a:ext cx="1024128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Scope = pool d’adresses + masque.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Options = DNS, suffixe DNS, éventuellement passerelle.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Dans un domaine AD, distribuer le mauvais DNS est une panne fonctionnelle majeure.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commandes réseau qui sauvent un TP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Voir, résoudre, tester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5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926080" cy="566928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B8D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56362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ipconfig /all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23360" y="15361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Adresse, masque, DNS, DHCP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286000"/>
            <a:ext cx="2926080" cy="566928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B8D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4323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Resolve-DnsName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23360" y="24048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Résolution A / SRV / PTR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3154680"/>
            <a:ext cx="2926080" cy="566928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B8D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30098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Test-NetConnection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23360" y="32735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Port TCP et chemin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4023360"/>
            <a:ext cx="2926080" cy="566928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B8D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416966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whoami /groups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023360" y="4142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Identité et groupes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892040"/>
            <a:ext cx="2926080" cy="566928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B8D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503834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gpresult /r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023360" y="5010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GPO appliquées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PowerShell : administrer, vérifier, automatiser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La GUI pour comprendre ; PowerShell pour répéter et prouver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7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C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72200" y="14173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C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D8"/>
                </a:solidFill>
              </a:rPr>
              <a:t>Administration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130552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Install-WindowsFeature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New-ADUser / New-ADGroup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New-SmbShare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Add-DhcpServerv4Scope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New-GPO / New-GPLink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0080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285"/>
                </a:solidFill>
              </a:rPr>
              <a:t>Validation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130552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Get-ADDomain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Resolve-DnsName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Get-SmbShareAccess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Get-DhcpServerv4Lease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Get-WinEvent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13232" y="5513832"/>
            <a:ext cx="1069848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F85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669280"/>
            <a:ext cx="10287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F855A"/>
                </a:solidFill>
              </a:rPr>
              <a:t>Une automatisation utile commence par des préconditions, des contrôles d’existence et une validation.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Idempotence : le niveau au-dessus du simple script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Relancer sans casser ni dupliquer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5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3030"/>
                </a:solidFill>
              </a:rPr>
              <a:t>Mauvais réflexe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3931920" cy="137160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2286" tIns="2286" rIns="2286" bIns="2286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New-ADUser ...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New-ADUser ...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New-ADUser 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855A"/>
                </a:solidFill>
              </a:rPr>
              <a:t>Meilleur réflexe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1874520"/>
            <a:ext cx="4572000" cy="1371600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lIns="2286" tIns="2286" rIns="2286" bIns="2286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(-not (Get-ADUser ...)) 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New-ADUser ...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 ... } catch { ... }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1024128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43B53"/>
                </a:solidFill>
              </a:rPr>
              <a:t>TP5 : importer un CSV, créer uniquement ce qui manque, puis relancer le script.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43B53"/>
                </a:solidFill>
              </a:rPr>
              <a:t>Bonus : rapport CSV et support de -WhatIf.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Hyper-V : l’essentiel à connaître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Le TP complet est bonus car la virtualisation imbriquée dépend du poste hôte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5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1945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65D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9933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D8"/>
                </a:solidFill>
              </a:rPr>
              <a:t>Host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19202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Windows Server + rôle Hyper-V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0" y="1417320"/>
            <a:ext cx="219456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7C4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94760" y="15819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7C4"/>
                </a:solidFill>
              </a:rPr>
              <a:t>vSwitch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94760" y="1947672"/>
            <a:ext cx="1920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External / Internal / Private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1051560"/>
            <a:ext cx="2011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855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20840" y="12161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55A"/>
                </a:solidFill>
              </a:rPr>
              <a:t>VM01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20840" y="1581912"/>
            <a:ext cx="17373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vCPU • RAM • NIC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0" y="2514600"/>
            <a:ext cx="2011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855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26791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55A"/>
                </a:solidFill>
              </a:rPr>
              <a:t>VM02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20840" y="3044952"/>
            <a:ext cx="17373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Generation 2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326880" y="1783080"/>
            <a:ext cx="201168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7285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64040" y="19476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7285"/>
                </a:solidFill>
              </a:rPr>
              <a:t>VHDX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64040" y="2313432"/>
            <a:ext cx="17373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Disque virtuel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926080" y="2240280"/>
            <a:ext cx="731520" cy="0"/>
          </a:xfrm>
          <a:prstGeom prst="line">
            <a:avLst/>
          </a:prstGeom>
          <a:noFill/>
          <a:ln w="25400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852160" y="1828800"/>
            <a:ext cx="731520" cy="0"/>
          </a:xfrm>
          <a:prstGeom prst="line">
            <a:avLst/>
          </a:prstGeom>
          <a:noFill/>
          <a:ln w="25400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852160" y="1965960"/>
            <a:ext cx="731520" cy="1005840"/>
          </a:xfrm>
          <a:prstGeom prst="line">
            <a:avLst/>
          </a:prstGeom>
          <a:noFill/>
          <a:ln w="25400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95360" y="2011680"/>
            <a:ext cx="731520" cy="256032"/>
          </a:xfrm>
          <a:prstGeom prst="line">
            <a:avLst/>
          </a:prstGeom>
          <a:noFill/>
          <a:ln w="25400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13232" y="4983480"/>
            <a:ext cx="1069848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65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138928"/>
            <a:ext cx="10287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65D8"/>
                </a:solidFill>
              </a:rPr>
              <a:t>À retenir aujourd’hui : rôle Hyper-V, vSwitch, VM, VHDX, génération et isolation réseau.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WSUS / WDS : connaître sans s’y enfermer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Le programme les cite ; l’écosystème Microsoft a évolué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5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C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72200" y="14173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C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D8"/>
                </a:solidFill>
              </a:rPr>
              <a:t>WSUS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130552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Déploiement centralisé de mises à jour Microsoft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Toujours disponible sur Windows Server 2025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Déclaré déprécié : plus de nouvelles fonctionnalités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À connaître pour les environnements existants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0080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285"/>
                </a:solidFill>
              </a:rPr>
              <a:t>WDS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130552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Déploiement réseau / PXE historique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Toujours rencontré dans les SI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Plusieurs workflows boot.wim sont dépréciés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À positionner dans une stratégie de déploiement moderne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13232" y="5513832"/>
            <a:ext cx="1069848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779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669280"/>
            <a:ext cx="10287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B7791F"/>
                </a:solidFill>
              </a:rPr>
              <a:t>Sur 12 h, WSUS/WDS restent positionnés ; le temps gagné sert à pratiquer maintenance, Hyper-V, automatisation et diagnostic.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Maintenance : ce qui fait tenir un serveur dans le temps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Installer n’est que le début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5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333756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D8"/>
                </a:solidFill>
              </a:rPr>
              <a:t>Mises à jour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13055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B53"/>
                </a:solidFill>
              </a:rPr>
              <a:t>Cycle contrôlé • fenêtres • rollback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80560" y="1508760"/>
            <a:ext cx="333756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55A"/>
                </a:solidFill>
              </a:rPr>
              <a:t>Sauvegarde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13055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B53"/>
                </a:solidFill>
              </a:rPr>
              <a:t>État système • données • restauration testée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0" y="1508760"/>
            <a:ext cx="333756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285"/>
                </a:solidFill>
              </a:rPr>
              <a:t>Logs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0" y="213055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B53"/>
                </a:solidFill>
              </a:rPr>
              <a:t>Event Viewer • centralisation • alertes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333756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661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791F"/>
                </a:solidFill>
              </a:rPr>
              <a:t>Comptes admin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00507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B53"/>
                </a:solidFill>
              </a:rPr>
              <a:t>Moindre privilège • comptes séparés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480560" y="3383280"/>
            <a:ext cx="333756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7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5661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7C4"/>
                </a:solidFill>
              </a:rPr>
              <a:t>Capacité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63440" y="400507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B53"/>
                </a:solidFill>
              </a:rPr>
              <a:t>CPU • RAM • disque • croissance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0" y="3383280"/>
            <a:ext cx="333756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865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5661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6581"/>
                </a:solidFill>
              </a:rPr>
              <a:t>Documentation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0" y="400507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B53"/>
                </a:solidFill>
              </a:rPr>
              <a:t>Architecture • procédures • changements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Diagnostic : une méthode avant les outils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IP → DNS → service → authentification → autorisation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8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874520" cy="1417320"/>
          </a:xfrm>
          <a:prstGeom prst="roundRect">
            <a:avLst/>
          </a:prstGeom>
          <a:solidFill>
            <a:srgbClr val="EEF6FF"/>
          </a:solidFill>
          <a:ln w="20320">
            <a:solidFill>
              <a:srgbClr val="1665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9385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65D8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69848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IP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ipconfig /all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04872" y="2267712"/>
            <a:ext cx="365760" cy="502920"/>
          </a:xfrm>
          <a:prstGeom prst="chevron">
            <a:avLst/>
          </a:prstGeom>
          <a:solidFill>
            <a:srgbClr val="486581"/>
          </a:solidFill>
          <a:ln w="12700">
            <a:solidFill>
              <a:srgbClr val="4865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1828800"/>
            <a:ext cx="1874520" cy="1417320"/>
          </a:xfrm>
          <a:prstGeom prst="roundRect">
            <a:avLst/>
          </a:prstGeom>
          <a:solidFill>
            <a:srgbClr val="F0FDFA"/>
          </a:solidFill>
          <a:ln w="2032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19385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285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01568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DNS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71800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Resolve-DnsName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36592" y="2267712"/>
            <a:ext cx="365760" cy="502920"/>
          </a:xfrm>
          <a:prstGeom prst="chevron">
            <a:avLst/>
          </a:prstGeom>
          <a:solidFill>
            <a:srgbClr val="486581"/>
          </a:solidFill>
          <a:ln w="12700">
            <a:solidFill>
              <a:srgbClr val="4865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1828800"/>
            <a:ext cx="1874520" cy="1417320"/>
          </a:xfrm>
          <a:prstGeom prst="roundRect">
            <a:avLst/>
          </a:prstGeom>
          <a:solidFill>
            <a:srgbClr val="EEF6FF"/>
          </a:solidFill>
          <a:ln w="20320">
            <a:solidFill>
              <a:srgbClr val="166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19385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65D8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733288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Service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0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Test-NetConnection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68312" y="2267712"/>
            <a:ext cx="365760" cy="502920"/>
          </a:xfrm>
          <a:prstGeom prst="chevron">
            <a:avLst/>
          </a:prstGeom>
          <a:solidFill>
            <a:srgbClr val="486581"/>
          </a:solidFill>
          <a:ln w="12700">
            <a:solidFill>
              <a:srgbClr val="4865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1828800"/>
            <a:ext cx="1874520" cy="1417320"/>
          </a:xfrm>
          <a:prstGeom prst="roundRect">
            <a:avLst/>
          </a:prstGeom>
          <a:solidFill>
            <a:srgbClr val="F0FDFA"/>
          </a:solidFill>
          <a:ln w="20320">
            <a:solidFill>
              <a:srgbClr val="0B72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07808" y="19385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285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065008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Auth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35240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whoami • klist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400032" y="2267712"/>
            <a:ext cx="365760" cy="502920"/>
          </a:xfrm>
          <a:prstGeom prst="chevron">
            <a:avLst/>
          </a:prstGeom>
          <a:solidFill>
            <a:srgbClr val="486581"/>
          </a:solidFill>
          <a:ln w="12700">
            <a:solidFill>
              <a:srgbClr val="4865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29800" y="1828800"/>
            <a:ext cx="1874520" cy="1417320"/>
          </a:xfrm>
          <a:prstGeom prst="roundRect">
            <a:avLst/>
          </a:prstGeom>
          <a:solidFill>
            <a:srgbClr val="EEF6FF"/>
          </a:solidFill>
          <a:ln w="20320">
            <a:solidFill>
              <a:srgbClr val="1665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39528" y="19385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65D8"/>
                </a:solidFill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396728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Droits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966960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 • ACL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14400" y="42062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3030"/>
                </a:solidFill>
              </a:rPr>
              <a:t>Avant chaque correction : formuler une hypothèse et choisir un test qui peut la confirmer ou la réfuter.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13232" y="5303520"/>
            <a:ext cx="1069848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53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458968"/>
            <a:ext cx="10287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53030"/>
                </a:solidFill>
              </a:rPr>
              <a:t>Le challenge final récompense la preuve de la cause racine, pas la chance.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planning des 8 séances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12 h : 2 h de cours + 10 h de pratique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4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D8"/>
                </a:solidFill>
              </a:rPr>
              <a:t>S1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70432" y="1188720"/>
            <a:ext cx="1325880" cy="438912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00A7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1280160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285"/>
                </a:solidFill>
              </a:rPr>
              <a:t>Cours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43200" y="12618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Slides 1–16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903720" y="12618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27D98"/>
                </a:solidFill>
              </a:rPr>
              <a:t>Fondamentaux + PowerShell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18836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D8"/>
                </a:solidFill>
              </a:rPr>
              <a:t>S2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70432" y="1792224"/>
            <a:ext cx="1325880" cy="438912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00A7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1883664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285"/>
                </a:solidFill>
              </a:rPr>
              <a:t>Cours + TP1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0" y="186537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Slides 17–24 + AD DS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903720" y="186537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27D98"/>
                </a:solidFill>
              </a:rPr>
              <a:t>Domaine + DNS validés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94360" y="24871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D8"/>
                </a:solidFill>
              </a:rPr>
              <a:t>S3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70432" y="2395728"/>
            <a:ext cx="1325880" cy="438912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00A7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2487168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285"/>
                </a:solidFill>
              </a:rPr>
              <a:t>TP2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4320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AD + AGDLP + GPO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903720" y="24688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27D98"/>
                </a:solidFill>
              </a:rPr>
              <a:t>Structure + 2 GPO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94360" y="3090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D8"/>
                </a:solidFill>
              </a:rPr>
              <a:t>S4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70432" y="2999232"/>
            <a:ext cx="1325880" cy="438912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00A7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7008" y="3090672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285"/>
                </a:solidFill>
              </a:rPr>
              <a:t>TP3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743200" y="307238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SMB + NTFS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903720" y="307238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27D98"/>
                </a:solidFill>
              </a:rPr>
              <a:t>Droits métier + ABE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94360" y="36941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D8"/>
                </a:solidFill>
              </a:rPr>
              <a:t>S5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170432" y="3602736"/>
            <a:ext cx="1325880" cy="438912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00A7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07008" y="3694176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285"/>
                </a:solidFill>
              </a:rPr>
              <a:t>TP4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743200" y="367588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DHCP + DNS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903720" y="367588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27D98"/>
                </a:solidFill>
              </a:rPr>
              <a:t>Bail + direct/inverse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94360" y="42976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D8"/>
                </a:solidFill>
              </a:rPr>
              <a:t>S6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170432" y="4206240"/>
            <a:ext cx="1325880" cy="438912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00A7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07008" y="4297680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285"/>
                </a:solidFill>
              </a:rPr>
              <a:t>TP5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2743200" y="42793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PowerShell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6903720" y="427939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27D98"/>
                </a:solidFill>
              </a:rPr>
              <a:t>Onboarding idempotent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594360" y="4901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D8"/>
                </a:solidFill>
              </a:rPr>
              <a:t>S7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170432" y="4809744"/>
            <a:ext cx="1325880" cy="438912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00A7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4901184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285"/>
                </a:solidFill>
              </a:rPr>
              <a:t>TP6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743200" y="488289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Maintenance + Hyper-V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6903720" y="4882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27D98"/>
                </a:solidFill>
              </a:rPr>
              <a:t>Health-check + mini-lab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594360" y="55046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D8"/>
                </a:solidFill>
              </a:rPr>
              <a:t>S8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170432" y="5413248"/>
            <a:ext cx="1325880" cy="43891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07008" y="5504688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53030"/>
                </a:solidFill>
              </a:rPr>
              <a:t>TP7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2743200" y="54864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Break/Fix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6903720" y="54864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27D98"/>
                </a:solidFill>
              </a:rPr>
              <a:t>Cause racine + prévention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Règles du jeu pour les TP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Le résultat compte, mais la preuve aussi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4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1033272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Ne pas copier une correction avant d’avoir essayé et formulé une hypothèse.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Chaque TP se termine par des commandes de validation à conserver dans le rendu.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Les droits sont attribués à des groupes, pas directement aux utilisateurs.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Les scripts doivent contenir des contrôles et rester lisibles.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En cas de panne : ne pas redémarrer / réinstaller comme premier réflexe.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5440680"/>
            <a:ext cx="1069848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596128"/>
            <a:ext cx="10287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F855A"/>
                </a:solidFill>
              </a:rPr>
              <a:t>Un administrateur professionnel sait expliquer pourquoi ça marche — et pourquoi ça ne marche pas.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Mini-check avant de commencer TP1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Vous devez pouvoir répondre sans chercher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61320" y="43891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5328" y="516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285"/>
                </a:solidFill>
              </a:rPr>
              <a:t>3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57200" cy="457200"/>
          </a:xfrm>
          <a:prstGeom prst="ellipse">
            <a:avLst/>
          </a:prstGeom>
          <a:solidFill>
            <a:srgbClr val="00A7C4"/>
          </a:solidFill>
          <a:ln w="12700">
            <a:solidFill>
              <a:srgbClr val="00A7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27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14447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</a:rPr>
              <a:t>Pourquoi DC01 doit-il avoir une IP statique 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2240280"/>
            <a:ext cx="457200" cy="457200"/>
          </a:xfrm>
          <a:prstGeom prst="ellipse">
            <a:avLst/>
          </a:prstGeom>
          <a:solidFill>
            <a:srgbClr val="00A7C4"/>
          </a:solidFill>
          <a:ln w="12700">
            <a:solidFill>
              <a:srgbClr val="00A7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50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226771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</a:rPr>
              <a:t>Quel DNS doit utiliser DC01 dans ce lab 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457200" cy="457200"/>
          </a:xfrm>
          <a:prstGeom prst="ellipse">
            <a:avLst/>
          </a:prstGeom>
          <a:solidFill>
            <a:srgbClr val="00A7C4"/>
          </a:solidFill>
          <a:ln w="12700">
            <a:solidFill>
              <a:srgbClr val="00A7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1729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309067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</a:rPr>
              <a:t>Quel est le nom DNS du domaine 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00A7C4"/>
          </a:solidFill>
          <a:ln w="12700">
            <a:solidFill>
              <a:srgbClr val="00A7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9959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391363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</a:rPr>
              <a:t>Quel test permettra de vérifier la présence des SRV AD 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68680" y="4709160"/>
            <a:ext cx="457200" cy="457200"/>
          </a:xfrm>
          <a:prstGeom prst="ellipse">
            <a:avLst/>
          </a:prstGeom>
          <a:solidFill>
            <a:srgbClr val="00A7C4"/>
          </a:solidFill>
          <a:ln w="12700">
            <a:solidFill>
              <a:srgbClr val="00A7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8188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473659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</a:rPr>
              <a:t>Quelle différence entre installer le rôle AD DS et promouvoir le serveur 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2A43"/>
                </a:solidFill>
              </a:rPr>
              <a:t>À vous de jouer.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65D8"/>
                </a:solidFill>
              </a:rPr>
              <a:t>TP1 — Construire novacorp.test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0" y="3108960"/>
            <a:ext cx="23317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65D8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965960" y="327355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D8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65960" y="3639312"/>
            <a:ext cx="2057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IP statique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10.10.10.10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3108960"/>
            <a:ext cx="23317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7C4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327355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7C4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4920" y="3639312"/>
            <a:ext cx="2057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AD DS + DNS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Promotion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3108960"/>
            <a:ext cx="23317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855A"/>
            </a:solidFill>
            <a:prstDash val="solid"/>
          </a:ln>
          <a:effectLst>
            <a:outerShdw sx="100000" sy="100000" kx="0" ky="0" algn="bl" rotWithShape="0" blurRad="12700" dist="50800" dir="2700000">
              <a:srgbClr val="AAB7C4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3880" y="327355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55A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83880" y="3639312"/>
            <a:ext cx="2057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Validation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SRV + dcdiag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60520" y="3703320"/>
            <a:ext cx="777240" cy="0"/>
          </a:xfrm>
          <a:prstGeom prst="line">
            <a:avLst/>
          </a:prstGeom>
          <a:noFill/>
          <a:ln w="25400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69480" y="3703320"/>
            <a:ext cx="777240" cy="0"/>
          </a:xfrm>
          <a:prstGeom prst="line">
            <a:avLst/>
          </a:prstGeom>
          <a:noFill/>
          <a:ln w="25400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7285"/>
                </a:solidFill>
              </a:rPr>
              <a:t>Objectif : un domaine que vous êtes capables de prouver fonctionnel.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Cours B3 Systèmes, Réseaux et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T1 — Administration et maintenance Windows Server</dc:title>
  <dc:subject>T1 — Administration et maintenance Windows Server</dc:subject>
  <dc:creator>Gaëtan Perruche</dc:creator>
  <cp:lastModifiedBy>Gaëtan Perruche</cp:lastModifiedBy>
  <cp:revision>1</cp:revision>
  <dcterms:created xsi:type="dcterms:W3CDTF">2026-09-08T21:33:20Z</dcterms:created>
  <dcterms:modified xsi:type="dcterms:W3CDTF">2026-09-08T21:33:20Z</dcterms:modified>
</cp:coreProperties>
</file>